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4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FD0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COMPUTING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96540"/>
            <a:ext cx="10883392" cy="69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Les cinq acteurs du Cloud Computing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67030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Rôles, services, exemples et relations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72516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Zouari Omar - ESPRIT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Vue d’ensemble : le modèle NIST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36144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acteurs se partagent l’écosystème du Cloud Computing.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2800" y="3751580"/>
            <a:ext cx="1991360" cy="229362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3751580"/>
            <a:ext cx="1991360" cy="2293620"/>
          </a:xfrm>
          <a:custGeom>
            <a:avLst/>
            <a:gdLst/>
            <a:ahLst/>
            <a:cxnLst/>
            <a:rect l="l" t="t" r="r" b="b"/>
            <a:pathLst>
              <a:path w="1991360" h="22936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889760" y="0"/>
                </a:lnTo>
                <a:arcTo hR="101600" wR="101600" stAng="16200000" swAng="5400000"/>
                <a:lnTo>
                  <a:pt x="199136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E7C70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005580"/>
            <a:ext cx="16357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Consommateur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5148580"/>
            <a:ext cx="163576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 les services et les paie à l’usage.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56560" y="3751580"/>
            <a:ext cx="1991360" cy="229362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956560" y="3751580"/>
            <a:ext cx="1991360" cy="2293620"/>
          </a:xfrm>
          <a:custGeom>
            <a:avLst/>
            <a:gdLst/>
            <a:ahLst/>
            <a:cxnLst/>
            <a:rect l="l" t="t" r="r" b="b"/>
            <a:pathLst>
              <a:path w="1991360" h="22936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889760" y="0"/>
                </a:lnTo>
                <a:arcTo hR="101600" wR="101600" stAng="16200000" swAng="5400000"/>
                <a:lnTo>
                  <a:pt x="199136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E7C70"/>
          </a:solidFill>
          <a:ln/>
        </p:spPr>
      </p:sp>
      <p:sp>
        <p:nvSpPr>
          <p:cNvPr id="10" name="Text 8"/>
          <p:cNvSpPr/>
          <p:nvPr/>
        </p:nvSpPr>
        <p:spPr>
          <a:xfrm>
            <a:off x="3159760" y="4005580"/>
            <a:ext cx="16357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Fournisseur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159760" y="4792980"/>
            <a:ext cx="163576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Conçoit, exploite et met à disposition les services.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00320" y="3751580"/>
            <a:ext cx="1991360" cy="229362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100320" y="3751580"/>
            <a:ext cx="1991360" cy="2293620"/>
          </a:xfrm>
          <a:custGeom>
            <a:avLst/>
            <a:gdLst/>
            <a:ahLst/>
            <a:cxnLst/>
            <a:rect l="l" t="t" r="r" b="b"/>
            <a:pathLst>
              <a:path w="1991360" h="22936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889760" y="0"/>
                </a:lnTo>
                <a:arcTo hR="101600" wR="101600" stAng="16200000" swAng="5400000"/>
                <a:lnTo>
                  <a:pt x="199136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E7C70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4005580"/>
            <a:ext cx="163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Auditeur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4437380"/>
            <a:ext cx="163576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 en toute indépendance sécurité et conformité.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44080" y="3751580"/>
            <a:ext cx="1991360" cy="229362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244080" y="3751580"/>
            <a:ext cx="1991360" cy="2293620"/>
          </a:xfrm>
          <a:custGeom>
            <a:avLst/>
            <a:gdLst/>
            <a:ahLst/>
            <a:cxnLst/>
            <a:rect l="l" t="t" r="r" b="b"/>
            <a:pathLst>
              <a:path w="1991360" h="22936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889760" y="0"/>
                </a:lnTo>
                <a:arcTo hR="101600" wR="101600" stAng="16200000" swAng="5400000"/>
                <a:lnTo>
                  <a:pt x="199136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E7C70"/>
          </a:solidFill>
          <a:ln/>
        </p:spPr>
      </p:sp>
      <p:sp>
        <p:nvSpPr>
          <p:cNvPr id="18" name="Text 16"/>
          <p:cNvSpPr/>
          <p:nvPr/>
        </p:nvSpPr>
        <p:spPr>
          <a:xfrm>
            <a:off x="7447280" y="4005580"/>
            <a:ext cx="16357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Courtier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47280" y="4437380"/>
            <a:ext cx="163576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 d’intermédiaire entre clients et fournisseurs.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387840" y="3751580"/>
            <a:ext cx="1991360" cy="229362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387840" y="3751580"/>
            <a:ext cx="1991360" cy="2293620"/>
          </a:xfrm>
          <a:custGeom>
            <a:avLst/>
            <a:gdLst/>
            <a:ahLst/>
            <a:cxnLst/>
            <a:rect l="l" t="t" r="r" b="b"/>
            <a:pathLst>
              <a:path w="1991360" h="22936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1889760" y="0"/>
                </a:lnTo>
                <a:arcTo hR="101600" wR="101600" stAng="16200000" swAng="5400000"/>
                <a:lnTo>
                  <a:pt x="199136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E7C70"/>
          </a:solidFill>
          <a:ln/>
        </p:spPr>
      </p:sp>
      <p:sp>
        <p:nvSpPr>
          <p:cNvPr id="22" name="Text 20"/>
          <p:cNvSpPr/>
          <p:nvPr/>
        </p:nvSpPr>
        <p:spPr>
          <a:xfrm>
            <a:off x="9591040" y="4005580"/>
            <a:ext cx="163576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Opérateur de transport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591040" y="4792980"/>
            <a:ext cx="163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Assure la connectivité réseau.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Consommateur, fournisseur et opérateur de transport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39"/>
            <a:ext cx="3420533" cy="3645535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64639"/>
            <a:ext cx="3420533" cy="3645535"/>
          </a:xfrm>
          <a:custGeom>
            <a:avLst/>
            <a:gdLst/>
            <a:ahLst/>
            <a:cxnLst/>
            <a:rect l="l" t="t" r="r" b="b"/>
            <a:pathLst>
              <a:path w="3420533" h="364553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33" y="0"/>
                </a:lnTo>
                <a:arcTo hR="101600" wR="101600" stAng="16200000" swAng="5400000"/>
                <a:lnTo>
                  <a:pt x="3420533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E7C70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844039"/>
            <a:ext cx="30522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Consommateur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1400" y="2275839"/>
            <a:ext cx="3052233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 les services cloud pour ses besoins et paie selon sa consommation.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3071495"/>
            <a:ext cx="3052233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aux offres IaaS, PaaS et SaaS ; gestion de ses comptes, de ses données et du contrat de service (SLA).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1400" y="4090036"/>
            <a:ext cx="3052233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B45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start-up qui héberge son site sur AWS et travaille avec Microsoft 365.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5733" y="1564639"/>
            <a:ext cx="3420533" cy="3645535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385733" y="1564639"/>
            <a:ext cx="3420533" cy="3645535"/>
          </a:xfrm>
          <a:custGeom>
            <a:avLst/>
            <a:gdLst/>
            <a:ahLst/>
            <a:cxnLst/>
            <a:rect l="l" t="t" r="r" b="b"/>
            <a:pathLst>
              <a:path w="3420533" h="364553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33" y="0"/>
                </a:lnTo>
                <a:arcTo hR="101600" wR="101600" stAng="16200000" swAng="5400000"/>
                <a:lnTo>
                  <a:pt x="3420533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E7C70"/>
          </a:solidFill>
          <a:ln/>
        </p:spPr>
      </p:sp>
      <p:sp>
        <p:nvSpPr>
          <p:cNvPr id="11" name="Text 9"/>
          <p:cNvSpPr/>
          <p:nvPr/>
        </p:nvSpPr>
        <p:spPr>
          <a:xfrm>
            <a:off x="4614333" y="1844039"/>
            <a:ext cx="30522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Fournisseur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4333" y="2275839"/>
            <a:ext cx="3052233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Construit, exploite et fournit les services cloud ; il est responsable de leur disponibilité.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4333" y="3294380"/>
            <a:ext cx="3052233" cy="91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(IaaS), plateformes (PaaS), applications (SaaS), sécurité, supervision et facturation.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4333" y="4312920"/>
            <a:ext cx="3052233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B45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Services, Microsoft Azure ou Google Cloud.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8667" y="1564639"/>
            <a:ext cx="3420533" cy="3645535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8667" y="1564639"/>
            <a:ext cx="3420533" cy="3645535"/>
          </a:xfrm>
          <a:custGeom>
            <a:avLst/>
            <a:gdLst/>
            <a:ahLst/>
            <a:cxnLst/>
            <a:rect l="l" t="t" r="r" b="b"/>
            <a:pathLst>
              <a:path w="3420533" h="364553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33" y="0"/>
                </a:lnTo>
                <a:arcTo hR="101600" wR="101600" stAng="16200000" swAng="5400000"/>
                <a:lnTo>
                  <a:pt x="3420533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0E7C70"/>
          </a:solidFill>
          <a:ln/>
        </p:spPr>
      </p:sp>
      <p:sp>
        <p:nvSpPr>
          <p:cNvPr id="17" name="Text 15"/>
          <p:cNvSpPr/>
          <p:nvPr/>
        </p:nvSpPr>
        <p:spPr>
          <a:xfrm>
            <a:off x="8187267" y="1844039"/>
            <a:ext cx="30522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Opérateur de transport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87267" y="2275839"/>
            <a:ext cx="3052233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Fournit la connectivité réseau qui relie consommateurs et fournisseurs.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7267" y="3071495"/>
            <a:ext cx="3052233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Internet, liaisons dédiées, VPN, qualité de service.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7267" y="3867150"/>
            <a:ext cx="3052233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B45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Tunisie Telecom, Orange ou Ooredoo.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Auditeur et courtier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64639"/>
            <a:ext cx="5207000" cy="3199765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64639"/>
            <a:ext cx="5207000" cy="3199765"/>
          </a:xfrm>
          <a:custGeom>
            <a:avLst/>
            <a:gdLst/>
            <a:ahLst/>
            <a:cxnLst/>
            <a:rect l="l" t="t" r="r" b="b"/>
            <a:pathLst>
              <a:path w="5207000" h="319976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105400" y="0"/>
                </a:lnTo>
                <a:arcTo hR="101600" wR="101600" stAng="16200000" swAng="5400000"/>
                <a:lnTo>
                  <a:pt x="52070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2A65A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844039"/>
            <a:ext cx="48922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Auditeur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1400" y="2275839"/>
            <a:ext cx="4892294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Évalue de façon indépendante la sécurité, la conformité et les performances des services cloud.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3071495"/>
            <a:ext cx="4892294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de sécurité, vérification de conformité (ISO 27001, RGPD), contrôle de la protection des données.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1400" y="3867150"/>
            <a:ext cx="4892294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B45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cabinet d’audit comme Deloitte, PwC ou BSI qui certifie un fournisseur.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64639"/>
            <a:ext cx="5207000" cy="3199765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564639"/>
            <a:ext cx="5207000" cy="3199765"/>
          </a:xfrm>
          <a:custGeom>
            <a:avLst/>
            <a:gdLst/>
            <a:ahLst/>
            <a:cxnLst/>
            <a:rect l="l" t="t" r="r" b="b"/>
            <a:pathLst>
              <a:path w="5207000" h="319976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105400" y="0"/>
                </a:lnTo>
                <a:arcTo hR="101600" wR="101600" stAng="16200000" swAng="5400000"/>
                <a:lnTo>
                  <a:pt x="52070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44039"/>
            <a:ext cx="48922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Courtier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275839"/>
            <a:ext cx="4892294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Intermédiaire qui gère l’usage, la performance et la livraison des services, et négocie avec les fournisseurs.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071495"/>
            <a:ext cx="4892294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Intermédiation, agrégation de plusieurs clouds, arbitrage entre offres, migration et gestion des coûts.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867150"/>
            <a:ext cx="4892294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B459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</a:t>
            </a:r>
            <a:endParaRPr lang="en-US" sz="1300" dirty="0"/>
          </a:p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intégrateur comme Capgemini ou Accenture qui orchestre AWS et Azure pour un client.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02E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Relations entre les acteurs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39"/>
            <a:ext cx="10566400" cy="553720"/>
          </a:xfrm>
          <a:prstGeom prst="roundRect">
            <a:avLst>
              <a:gd name="adj" fmla="val 18349"/>
            </a:avLst>
          </a:prstGeom>
          <a:solidFill>
            <a:srgbClr val="0F1B2D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Auditeur</a:t>
            </a: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contrôle indépendamment le fournisseur et ses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9150" y="2200911"/>
            <a:ext cx="3171613" cy="970280"/>
          </a:xfrm>
          <a:prstGeom prst="roundRect">
            <a:avLst>
              <a:gd name="adj" fmla="val 9817"/>
            </a:avLst>
          </a:prstGeom>
          <a:solidFill>
            <a:srgbClr val="FFFFFF"/>
          </a:solidFill>
          <a:ln w="12700">
            <a:solidFill>
              <a:srgbClr val="0E7C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410461"/>
            <a:ext cx="283508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Consommateur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8700" y="2730500"/>
            <a:ext cx="28350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 et paie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98713" y="2472689"/>
            <a:ext cx="3642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10193" y="2200911"/>
            <a:ext cx="3171613" cy="970280"/>
          </a:xfrm>
          <a:prstGeom prst="roundRect">
            <a:avLst>
              <a:gd name="adj" fmla="val 9817"/>
            </a:avLst>
          </a:prstGeom>
          <a:solidFill>
            <a:srgbClr val="FFFFFF"/>
          </a:solidFill>
          <a:ln w="12700">
            <a:solidFill>
              <a:srgbClr val="B4590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719743" y="2410461"/>
            <a:ext cx="283508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Courtier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19743" y="2730500"/>
            <a:ext cx="28350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intermédiaire (optionnel)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89757" y="2472689"/>
            <a:ext cx="36423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E7C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01237" y="2200911"/>
            <a:ext cx="3171613" cy="970280"/>
          </a:xfrm>
          <a:prstGeom prst="roundRect">
            <a:avLst>
              <a:gd name="adj" fmla="val 9817"/>
            </a:avLst>
          </a:prstGeom>
          <a:solidFill>
            <a:srgbClr val="FFFFFF"/>
          </a:solidFill>
          <a:ln w="12700">
            <a:solidFill>
              <a:srgbClr val="0E7C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0787" y="2410461"/>
            <a:ext cx="2835089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Fournisseur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0787" y="2730500"/>
            <a:ext cx="28350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fournit les services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3304539"/>
            <a:ext cx="10566400" cy="553720"/>
          </a:xfrm>
          <a:prstGeom prst="roundRect">
            <a:avLst>
              <a:gd name="adj" fmla="val 18349"/>
            </a:avLst>
          </a:prstGeom>
          <a:solidFill>
            <a:srgbClr val="0E7C70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Opérateur de transport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achemine toutes les communications entre les acteurs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2782" y="4112261"/>
            <a:ext cx="1076579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4018" indent="-1440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consommateur contracte avec le fournisseur, directement ou via un courtier.</a:t>
            </a:r>
            <a:endParaRPr lang="en-US" sz="1400" dirty="0"/>
          </a:p>
          <a:p>
            <a:pPr algn="l" marL="144018" indent="-1440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fournisseur rend le service ; l’opérateur de transport le rend accessible.</a:t>
            </a:r>
            <a:endParaRPr lang="en-US" sz="1400" dirty="0"/>
          </a:p>
          <a:p>
            <a:pPr algn="l" marL="144018" indent="-1440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4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L’auditeur contrôle sans dépendre des autres acteurs.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Synthèse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7339"/>
          <a:ext cx="10553700" cy="2788920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4648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FD0B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Acteur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FD0B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Rôle clé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3FD0B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Exemple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D3D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Consommateur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Utiliser les services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Start-up sur AWS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A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Fournisseur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Fournir et exploiter les services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Azure, Google Cloud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Auditeur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Contrôler la conformité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Deloitte, PwC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Courtier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Intermédier et agréger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Capgemini, Accenture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Opérateur de transport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Assurer la connectivité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6F4E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Orange, Ooredoo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101600" marB="101600" anchor="t">
                    <a:lnL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C5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Les cinq acteurs du Cloud Computing">
  <a:themeElements>
    <a:clrScheme name="Les cinq acteurs du Cloud Computing">
      <a:dk1>
        <a:srgbClr val="14202E"/>
      </a:dk1>
      <a:lt1>
        <a:srgbClr val="F6F4EF"/>
      </a:lt1>
      <a:dk2>
        <a:srgbClr val="4D555E"/>
      </a:dk2>
      <a:lt2>
        <a:srgbClr val="DFDFDC"/>
      </a:lt2>
      <a:accent1>
        <a:srgbClr val="0E7C70"/>
      </a:accent1>
      <a:accent2>
        <a:srgbClr val="3FD0BE"/>
      </a:accent2>
      <a:accent3>
        <a:srgbClr val="F2A65A"/>
      </a:accent3>
      <a:accent4>
        <a:srgbClr val="4A5563"/>
      </a:accent4>
      <a:accent5>
        <a:srgbClr val="C9D3DF"/>
      </a:accent5>
      <a:accent6>
        <a:srgbClr val="9AA0A6"/>
      </a:accent6>
      <a:hlink>
        <a:srgbClr val="0563C1"/>
      </a:hlink>
      <a:folHlink>
        <a:srgbClr val="954F72"/>
      </a:folHlink>
    </a:clrScheme>
    <a:fontScheme name="Les cinq acteurs du Cloud Computing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cinq acteurs du Cloud Computing</dc:title>
  <dc:subject/>
  <dc:creator/>
  <cp:lastModifiedBy/>
  <cp:revision>1</cp:revision>
  <dcterms:created xsi:type="dcterms:W3CDTF">2026-10-22T08:26:08Z</dcterms:created>
  <dcterms:modified xsi:type="dcterms:W3CDTF">2026-10-22T08:26:08Z</dcterms:modified>
</cp:coreProperties>
</file>